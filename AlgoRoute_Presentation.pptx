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69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A93B"/>
                </a:solidFill>
              </a:defRPr>
            </a:pPr>
            <a:r>
              <a:t>IBM PROJECT USE CASE #20</a:t>
            </a:r>
          </a:p>
          <a:p>
            <a:pPr algn="ctr">
              <a:spcAft>
                <a:spcPts val="1000"/>
              </a:spcAft>
              <a:defRPr sz="5400" b="1">
                <a:solidFill>
                  <a:srgbClr val="D4AF37"/>
                </a:solidFill>
              </a:defRPr>
            </a:pPr>
            <a:r>
              <a:t>AlgoRoute</a:t>
            </a:r>
          </a:p>
          <a:p>
            <a:pPr algn="ctr">
              <a:spcAft>
                <a:spcPts val="3000"/>
              </a:spcAft>
              <a:defRPr sz="1800" b="1">
                <a:solidFill>
                  <a:srgbClr val="F3E5AB"/>
                </a:solidFill>
              </a:defRPr>
            </a:pPr>
            <a:r>
              <a:t>Intelligent Machine Learning Strategy Recommendation Engine for Tabular Datasets</a:t>
            </a:r>
          </a:p>
          <a:p>
            <a:pPr algn="ctr">
              <a:defRPr sz="1400" b="1">
                <a:solidFill>
                  <a:srgbClr val="F4F4F6"/>
                </a:solidFill>
              </a:defRPr>
            </a:pPr>
            <a:r>
              <a:t>Submitted by: SHAIK SHABAZ  (Reg No: A24126552275)</a:t>
            </a:r>
          </a:p>
          <a:p>
            <a:pPr algn="ctr">
              <a:defRPr sz="1300">
                <a:solidFill>
                  <a:srgbClr val="A1A1AA"/>
                </a:solidFill>
              </a:defRPr>
            </a:pPr>
            <a:r>
              <a:t>Department of CSE (AI &amp; ML) | ANITS (UGC Autonomous), Visakhapatnam</a:t>
            </a:r>
          </a:p>
          <a:p>
            <a:pPr algn="ctr">
              <a:defRPr sz="1200">
                <a:solidFill>
                  <a:srgbClr val="E5A93B"/>
                </a:solidFill>
              </a:defRPr>
            </a:pPr>
            <a:r>
              <a:t>Academic Year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9260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3E5AB"/>
                </a:solidFill>
              </a:defRPr>
            </a:pPr>
            <a:r>
              <a:t>⚠️ The 'No Free Lunch' Dilemma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No single ML algorithm performs best across all tabular datasets.</a:t>
            </a:r>
            <a:br/>
            <a:r>
              <a:t>• An algorithm excelling on linear data can fail on skewed, non-linear, or imbalanced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29260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3E5AB"/>
                </a:solidFill>
              </a:defRPr>
            </a:pPr>
            <a:r>
              <a:t>⏳ Compute &amp; Time Overhead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Traditional model selection relies on trial-and-error training across dozens of candidate models.</a:t>
            </a:r>
            <a:br/>
            <a:r>
              <a:t>• This approach requires significant compute power and development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E5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D4AF37"/>
                </a:solidFill>
              </a:defRPr>
            </a:pPr>
            <a:r>
              <a:t>🎯 Core Question Addressed by AlgoRoute</a:t>
            </a:r>
          </a:p>
          <a:p>
            <a:pPr>
              <a:defRPr sz="1500" b="1">
                <a:solidFill>
                  <a:srgbClr val="F4F4F6"/>
                </a:solidFill>
              </a:defRPr>
            </a:pPr>
            <a:r>
              <a:t>"Can we analyze dataset characteristics in &lt; 3 seconds to accurately recommend the optimal ML strategy without performing full, compute-heavy model training first?"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System Objectives &amp; Core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2860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⚡ Instant Meta-Routing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Analyze tabular CSV datasets in &lt; 3 seconds by extracting a 21-dimensional Dataset DNA.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2860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🧠 Meta-Learning Model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Predict expected F1 scores and rank 6 candidate classification algorithms based on OpenML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🔍 Explainable AI (XAI)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Generate human-readable 'Why This Strategy?' justifications for complete transparency.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🏥 Dataset Health Checks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Automatically detect small sample sizes, extreme class imbalance, and high missingness.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2062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🔒 100% In-Memory Privacy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Process uploaded CSVs strictly in-memory without persistent disk storage or external cloud APIs.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THEORETICAL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Meta-Learning: 'Learning to Learn'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9260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🔄 Conventional Machine Learning vs. Meta-Learning</a:t>
            </a:r>
          </a:p>
          <a:p>
            <a:pPr>
              <a:spcAft>
                <a:spcPts val="1000"/>
              </a:spcAft>
              <a:defRPr sz="1500">
                <a:solidFill>
                  <a:srgbClr val="F4F4F6"/>
                </a:solidFill>
              </a:defRPr>
            </a:pPr>
            <a:r>
              <a:t>• Conventional ML: Learns patterns within a single dataset to predict target labels y from feature matrix X.</a:t>
            </a:r>
          </a:p>
          <a:p>
            <a:pPr>
              <a:defRPr sz="1500" b="1">
                <a:solidFill>
                  <a:srgbClr val="E5A93B"/>
                </a:solidFill>
              </a:defRPr>
            </a:pPr>
            <a:r>
              <a:t>• Meta-Learning (AlgoRoute): Learns patterns across multiple historical datasets to predict algorithm performance from dataset-level characteristics.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698480" cy="164592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</a:defRPr>
            </a:pPr>
            <a:r>
              <a:t>Historical OpenML Datasets  →  21 Meta-Features + F1 Scores  →  Meta-Router  →  Instant Recommendation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The 21 Dataset Meta-Features (Dataset DNA)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38328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3E5AB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823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3E5AB"/>
                          </a:solidFill>
                        </a:defRPr>
                      </a:pPr>
                      <a:r>
                        <a:t>Extracted Meta-Features</a:t>
                      </a:r>
                    </a:p>
                  </a:txBody>
                  <a:tcPr>
                    <a:solidFill>
                      <a:srgbClr val="2823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3E5AB"/>
                          </a:solidFill>
                        </a:defRPr>
                      </a:pPr>
                      <a:r>
                        <a:t>Significance &amp; Purpose</a:t>
                      </a:r>
                    </a:p>
                  </a:txBody>
                  <a:tcPr>
                    <a:solidFill>
                      <a:srgbClr val="28230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Structural (5)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Rows, Columns, Instance-to-Feature Ratio, Numeric &amp; Categorical Ratios, Missing Values Rate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Quantifies dataset scale, density &amp; shape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Target / Class (3)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Class Count, Majority Class %, Class Imbalance Ratio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Detects target distribution skewness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Statistical (5)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Mean/Std Skewness, Mean/Std Kurtosis, Mean Absolute Feature Correlation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Captures non-linearity &amp; multi-collinearity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Info-Theoretic (2)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Class Entropy, Normalized Class Entropy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Measures class uncertainty &amp; information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Landmarking (2)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Decision Stump F1 Score, Naive Bayes F1 Score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4F4F6"/>
                          </a:solidFill>
                        </a:defRPr>
                      </a:pPr>
                      <a:r>
                        <a:t>Quick micro-tests gauging baseline difficulty</a:t>
                      </a:r>
                    </a:p>
                  </a:txBody>
                  <a:tcPr>
                    <a:solidFill>
                      <a:srgbClr val="1414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MODEL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6 Candidate ML Strategy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🌲 Random Forest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Bagging ensemble of decision trees. Robust against non-linear interactions &amp;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⚡ Gradient Boosting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Sequential boosting ensemble. High predictive power for structured tabular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📈 Logistic Regression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Linear probabilistic classifier. Fast baseline for linearly separable feature spaces.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📍 K-Nearest Neighbors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Distance-based non-parametric learner. Effective for localized decision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🌿 Decision Tree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Interpretable rule-based learner. Fast inference and clear decision paths.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062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3E5AB"/>
                </a:solidFill>
              </a:defRPr>
            </a:pPr>
            <a:r>
              <a:t>📊 Gaussian Naive Bayes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Probabilistic generative model assuming independent continuous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System Architecture &amp;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4AF37"/>
                </a:solidFill>
              </a:defRPr>
            </a:pPr>
            <a:r>
              <a:t>⚙️ Offline Training Pipeline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1. Fetch benchmark datasets from OpenML</a:t>
            </a:r>
            <a:br/>
            <a:r>
              <a:t>2. Extract 21 meta-features for each dataset</a:t>
            </a:r>
            <a:br/>
            <a:r>
              <a:t>3. Evaluate 6 candidate algorithms via 5-fold CV</a:t>
            </a:r>
            <a:br/>
            <a:r>
              <a:t>4. Construct Meta-Dataset connecting meta-features &amp; F1 scores</a:t>
            </a:r>
            <a:br/>
            <a:r>
              <a:t>5. Train Meta-Router model &amp; save as joblib artifact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E5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🚀 Online Inference Pipeline (&lt; 3s)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1. User uploads new CSV via Web Dashboard</a:t>
            </a:r>
            <a:br/>
            <a:r>
              <a:t>2. Extract 21 meta-features strictly in-memory</a:t>
            </a:r>
            <a:br/>
            <a:r>
              <a:t>3. Run Dataset Health Analyzer &amp; generate warnings</a:t>
            </a:r>
            <a:br/>
            <a:r>
              <a:t>4. Pass meta-features into loaded Meta-Router model</a:t>
            </a:r>
            <a:br/>
            <a:r>
              <a:t>5. Rank algorithms, predict F1 scores &amp; render XAI explanation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QUALITY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Dataset Health &amp; Quality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🔍 Evaluated Quality Conditions</a:t>
            </a:r>
          </a:p>
          <a:p>
            <a:pPr>
              <a:defRPr sz="1350">
                <a:solidFill>
                  <a:srgbClr val="F4F4F6"/>
                </a:solidFill>
              </a:defRPr>
            </a:pPr>
            <a:r>
              <a:t>• Small Sample Size: Flags datasets with &lt; 50 instances (high cross-validation variance risk).</a:t>
            </a:r>
            <a:br/>
            <a:r>
              <a:t>• Severe Class Imbalance: Flags ratios &gt; 3:1 or 8:1 (SMOTE sampling recommended).</a:t>
            </a:r>
            <a:br/>
            <a:r>
              <a:t>• High Missingness: Flags missing value rates &gt; 5% or 15%.</a:t>
            </a:r>
            <a:br/>
            <a:r>
              <a:t>• High Dimensionality: Flags low instance-to-feature ratios (&lt; 5:1).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3E5AB"/>
                </a:solidFill>
              </a:defRPr>
            </a:pPr>
            <a:r>
              <a:t>🚦 Health Status Indicators</a:t>
            </a:r>
          </a:p>
          <a:p>
            <a:pPr>
              <a:spcAft>
                <a:spcPts val="1200"/>
              </a:spcAft>
              <a:defRPr sz="1400" b="1">
                <a:solidFill>
                  <a:srgbClr val="4ADE80"/>
                </a:solidFill>
              </a:defRPr>
            </a:pPr>
            <a:r>
              <a:t>🟢 HEALTHY / GREEN</a:t>
            </a:r>
            <a:br/>
            <a:r>
              <a:t>Clean, balanced, standard dataset shape.</a:t>
            </a:r>
          </a:p>
          <a:p>
            <a:pPr>
              <a:spcAft>
                <a:spcPts val="1200"/>
              </a:spcAft>
              <a:defRPr sz="1400" b="1">
                <a:solidFill>
                  <a:srgbClr val="E5A93B"/>
                </a:solidFill>
              </a:defRPr>
            </a:pPr>
            <a:r>
              <a:t>🟡 REVIEW RECOMMENDED / YELLOW</a:t>
            </a:r>
            <a:br/>
            <a:r>
              <a:t>Minor imbalance or missing values detected.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🔴 ATTENTION REQUIRED / RED</a:t>
            </a:r>
            <a:br/>
            <a:r>
              <a:t>Extreme imbalance (&gt;8:1) or tiny sample size.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CORE PREDICTION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The Meta-Router Prediction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🤖 Model Implementation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Built using a hybrid multi-output regressor architecture (RandomForestRegressor).</a:t>
            </a:r>
            <a:br/>
            <a:r>
              <a:t>• Trained on extracted meta-feature fingerprints and historical cross-validated F1 scores.</a:t>
            </a:r>
            <a:br/>
            <a:r>
              <a:t>• Serialized artifact saved in:</a:t>
            </a:r>
            <a:br/>
            <a:r>
              <a:t>data/processed/meta_router_model.joblib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📊 Output Metrics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Predicted F1 Scores: Estimated F1 score for all 6 candidate algorithms.</a:t>
            </a:r>
            <a:br/>
            <a:r>
              <a:t>• Algorithm Ranking: Ordered ranking from Rank #1 (Top Strategy) to Rank #6.</a:t>
            </a:r>
            <a:br/>
            <a:r>
              <a:t>• Recommendation Score: Relative strength index scaled from 65.0 to 98.5.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EXPLAINABLE AI (XAI)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'Why This Strategy?'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D4AF37"/>
                </a:solidFill>
              </a:defRPr>
            </a:pPr>
            <a:r>
              <a:t>💡 Human-Readable Justification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Converts numerical meta-features and router predictions into clear natural language explanations to build user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🔑 Supporting Key Factors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• Primary prediction margin over runner-up strategy</a:t>
            </a:r>
            <a:br/>
            <a:r>
              <a:t>• Dataset instance-to-feature density suitability</a:t>
            </a:r>
            <a:br/>
            <a:r>
              <a:t>• Landmarking probe signals (Stump &amp; Naive Bayes F1)</a:t>
            </a:r>
            <a:br/>
            <a:r>
              <a:t>• Class entropy &amp; non-linear interaction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📋 Algorithm Suitability Matrix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Provides contextual strengths for all alternative strategies so data scientists understand algorithm tradeoffs before model training.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DATA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100% In-Memory Privacy Guarantee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🔒 In-Memory Only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Uploaded CSV datasets are processed strictly in RAM during request execution and cleaned up immediately.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🚫 Zero Disk Storage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User datasets are never saved to permanent server disk storage or local databases.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🛡️ No External APIs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Zero data transmission to external cloud services or third-party AI APIs (OpenAI, Cloud APIs).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CLOUD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Production Hostinger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972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3E5AB"/>
                </a:solidFill>
              </a:defRPr>
            </a:pPr>
            <a:r>
              <a:t>🌐 Live Production URL: https://algoroute.orbitonetech.com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33832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5A93B"/>
                </a:solidFill>
              </a:defRPr>
            </a:pPr>
            <a:r>
              <a:t>⚛️ React + Vite Frontend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Optimized single-page web dashboard with dark-gold theme, dynamic charts &amp; drag-and-drop CSV upload.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834640"/>
            <a:ext cx="3383280" cy="33832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0175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5A93B"/>
                </a:solidFill>
              </a:defRPr>
            </a:pPr>
            <a:r>
              <a:t>⚙️ Native Server API Engine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Production API handler executing meta-feature extraction, health checks, predictions &amp; XAI on the same 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834640"/>
            <a:ext cx="3383280" cy="33832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017520"/>
            <a:ext cx="3017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5A93B"/>
                </a:solidFill>
              </a:defRPr>
            </a:pPr>
            <a:r>
              <a:t>🔀 Single-Domain Routing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.htaccess rewrite rules route /api/* endpoints cleanly while preserving SPA frontend fallback.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EXPERIMENTAL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Empirical Performance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13716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85.0%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Average Router F1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13716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600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50.0%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Top-1 Recommendation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13716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80.0%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Top-3 Recommendation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13716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6002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F37"/>
                </a:solidFill>
              </a:defRPr>
            </a:pPr>
            <a:r>
              <a:t>0.0096</a:t>
            </a:r>
          </a:p>
          <a:p>
            <a:pPr algn="ctr">
              <a:defRPr sz="1100">
                <a:solidFill>
                  <a:srgbClr val="A1A1AA"/>
                </a:solidFill>
              </a:defRPr>
            </a:pPr>
            <a:r>
              <a:t>Average Regret (vs. Oracle)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5120640" cy="31089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7548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📈 Baseline Comparisons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• Oracle Best F1 (Hindsight Max): 85.97%</a:t>
            </a:r>
            <a:br/>
            <a:r>
              <a:t>• AlgoRoute Recommended Strategy: 85.00%</a:t>
            </a:r>
            <a:br/>
            <a:r>
              <a:t>• Default Random Forest Baseline: 84.85%</a:t>
            </a:r>
            <a:br/>
            <a:r>
              <a:t>• Uniform Random Baseline: 82.80%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5212080" cy="310896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3E5AB"/>
                </a:solidFill>
              </a:defRPr>
            </a:pPr>
            <a:r>
              <a:t>🧪 Automated Test Suite</a:t>
            </a:r>
          </a:p>
          <a:p>
            <a:pPr>
              <a:spcAft>
                <a:spcPts val="600"/>
              </a:spcAft>
              <a:defRPr sz="1400" b="1">
                <a:solidFill>
                  <a:srgbClr val="4ADE80"/>
                </a:solidFill>
              </a:defRPr>
            </a:pPr>
            <a:r>
              <a:t>19 Passed out of 19 Pytest Tests (100% Pass Rate)</a:t>
            </a:r>
          </a:p>
          <a:p>
            <a:pPr>
              <a:defRPr sz="1300">
                <a:solidFill>
                  <a:srgbClr val="F4F4F6"/>
                </a:solidFill>
              </a:defRPr>
            </a:pPr>
            <a:r>
              <a:t>Verifies feature extractors, benchmarker pipelines, router predictions, health analyzer &amp; privacy compliance.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4F4F6"/>
                </a:solidFill>
              </a:defRPr>
            </a:pPr>
            <a:r>
              <a:t>Limitations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⚠️ Present Limitations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Current scope is tailored to tabular classification problems.</a:t>
            </a:r>
            <a:br/>
            <a:r>
              <a:t>• Candidate portfolio limited to 6 core classification models.</a:t>
            </a:r>
            <a:br/>
            <a:r>
              <a:t>• Predicted F1 score is a recommendation guide, not a final guarantee.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3E5AB"/>
                </a:solidFill>
              </a:defRPr>
            </a:pPr>
            <a:r>
              <a:t>🚀 Future Improvements</a:t>
            </a:r>
          </a:p>
          <a:p>
            <a:pPr>
              <a:defRPr sz="1400">
                <a:solidFill>
                  <a:srgbClr val="F4F4F6"/>
                </a:solidFill>
              </a:defRPr>
            </a:pPr>
            <a:r>
              <a:t>• Extend meta-learning framework to tabular regression tasks.</a:t>
            </a:r>
            <a:br/>
            <a:r>
              <a:t>• Expand OpenML benchmark dataset collection to 100+ datasets.</a:t>
            </a:r>
            <a:br/>
            <a:r>
              <a:t>• Integrate automated hyperparameter tuning recommendation.</a:t>
            </a:r>
            <a:br/>
            <a:r>
              <a:t>• Support deep learning tabular models (TabNet, XGBoost, CatBoost).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4141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188720"/>
            <a:ext cx="8869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5A93B"/>
                </a:solidFill>
              </a:defRPr>
            </a:pPr>
            <a:r>
              <a:t>PROJECT COMPLETION</a:t>
            </a:r>
          </a:p>
          <a:p>
            <a:pPr algn="ctr">
              <a:spcAft>
                <a:spcPts val="1000"/>
              </a:spcAft>
              <a:defRPr sz="5000" b="1">
                <a:solidFill>
                  <a:srgbClr val="D4AF37"/>
                </a:solidFill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1600" b="1">
                <a:solidFill>
                  <a:srgbClr val="F3E5AB"/>
                </a:solidFill>
              </a:defRPr>
            </a:pPr>
            <a:r>
              <a:t>AlgoRoute — Intelligent Machine Learning Strategy Recommendation Engine</a:t>
            </a:r>
          </a:p>
          <a:p>
            <a:pPr algn="ctr">
              <a:defRPr sz="1400" b="1">
                <a:solidFill>
                  <a:srgbClr val="F4F4F6"/>
                </a:solidFill>
              </a:defRPr>
            </a:pPr>
            <a:r>
              <a:t>🌐 Live Production App: https://algoroute.orbitonetech.com</a:t>
            </a:r>
          </a:p>
          <a:p>
            <a:pPr algn="ctr">
              <a:spcAft>
                <a:spcPts val="2000"/>
              </a:spcAft>
              <a:defRPr sz="1300">
                <a:solidFill>
                  <a:srgbClr val="A1A1AA"/>
                </a:solidFill>
              </a:defRPr>
            </a:pPr>
            <a:r>
              <a:t>💻 GitHub Repository: https://github.com/Shabazshiek/AlgoRoute</a:t>
            </a:r>
          </a:p>
          <a:p>
            <a:pPr algn="ctr">
              <a:defRPr sz="1800" b="1">
                <a:solidFill>
                  <a:srgbClr val="D4AF37"/>
                </a:solidFill>
              </a:defRPr>
            </a:pPr>
            <a:r>
              <a:t>Questions &amp; Discussion 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